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26"/>
  </p:notesMasterIdLst>
  <p:sldIdLst>
    <p:sldId id="256" r:id="rId3"/>
    <p:sldId id="257" r:id="rId4"/>
    <p:sldId id="258" r:id="rId5"/>
    <p:sldId id="27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h74eF4R8ZU0IN2fJhMNLZLkFLc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DCC64C-79F8-4F6E-A11D-3597F310284E}">
  <a:tblStyle styleId="{C7DCC64C-79F8-4F6E-A11D-3597F31028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4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4" Type="http://customschemas.google.com/relationships/presentationmetadata" Target="meta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property image from OS map using nimbus or landinsight. Add type of property &amp; the site area. Do the critical checks.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views from google earth with marking of the property boundary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44BFBB15-4568-25FC-0303-EC8B8879E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492C27C3-3040-8190-6A9B-E6A5BBE43C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A8D979D5-4F93-C761-4D17-78356FC0FD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views from google earth with marking of the property boundary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210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property image from OS map using nimbus or landinsight. Add type of property &amp; the site area. Do the critical checks.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ac5b1a590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5ac5b1a590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views from google earth with marking of the property boundary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views from google earth with marking of the property boundary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12ec61f43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3612ec61f43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ac5b1a590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35ac5b1a590_3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16196e02f_3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3616196e02f_3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7d68141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367d68141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7d681419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67d681419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5c79dde5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365c79dde5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16196e02f_3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616196e02f_3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5c79dde5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365c79dde5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5ac5b1a590_5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35ac5b1a590_5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66de6903f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366de6903f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in the brief provided by the client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12" name="Google Shape;12;p18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pic>
          <p:nvPicPr>
            <p:cNvPr id="13" name="Google Shape;13;p18"/>
            <p:cNvPicPr preferRelativeResize="0"/>
            <p:nvPr/>
          </p:nvPicPr>
          <p:blipFill rotWithShape="1">
            <a:blip r:embed="rId2">
              <a:alphaModFix/>
            </a:blip>
            <a:srcRect t="31459"/>
            <a:stretch/>
          </p:blipFill>
          <p:spPr>
            <a:xfrm>
              <a:off x="0" y="0"/>
              <a:ext cx="9143999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18"/>
            <p:cNvSpPr/>
            <p:nvPr/>
          </p:nvSpPr>
          <p:spPr>
            <a:xfrm>
              <a:off x="1959475" y="1399400"/>
              <a:ext cx="5096400" cy="1311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Google Shape;1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ctrTitle" idx="2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3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29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19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3" name="Google Shape;23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7" name="Google Shape;27;p20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9" name="Google Shape;2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4" name="Google Shape;3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" name="Google Shape;40;p24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4"/>
          <p:cNvSpPr txBox="1">
            <a:spLocks noGrp="1"/>
          </p:cNvSpPr>
          <p:nvPr>
            <p:ph type="sldNum" idx="3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2" name="Google Shape;4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5" name="Google Shape;45;p25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7" name="Google Shape;47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0" name="Google Shape;50;p26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4" name="Google Shape;64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" name="Google Shape;75;p22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7" name="Google Shape;77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Montserrat"/>
              <a:buNone/>
              <a:defRPr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81" name="Google Shape;81;p31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pic>
          <p:nvPicPr>
            <p:cNvPr id="82" name="Google Shape;82;p31"/>
            <p:cNvPicPr preferRelativeResize="0"/>
            <p:nvPr/>
          </p:nvPicPr>
          <p:blipFill rotWithShape="1">
            <a:blip r:embed="rId2">
              <a:alphaModFix/>
            </a:blip>
            <a:srcRect t="31459"/>
            <a:stretch/>
          </p:blipFill>
          <p:spPr>
            <a:xfrm>
              <a:off x="0" y="0"/>
              <a:ext cx="9143999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31"/>
            <p:cNvSpPr/>
            <p:nvPr/>
          </p:nvSpPr>
          <p:spPr>
            <a:xfrm>
              <a:off x="1959475" y="1399400"/>
              <a:ext cx="5096400" cy="1311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" name="Google Shape;85;p31"/>
          <p:cNvSpPr txBox="1">
            <a:spLocks noGrp="1"/>
          </p:cNvSpPr>
          <p:nvPr>
            <p:ph type="ctrTitle" idx="2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6" name="Google Shape;86;p31"/>
          <p:cNvSpPr txBox="1">
            <a:spLocks noGrp="1"/>
          </p:cNvSpPr>
          <p:nvPr>
            <p:ph type="subTitle" idx="3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2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0" name="Google Shape;90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1" name="Google Shape;91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4" name="Google Shape;94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5" name="Google Shape;95;p3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6" name="Google Shape;9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7" name="Google Shape;97;p33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3"/>
          <p:cNvSpPr txBox="1">
            <a:spLocks noGrp="1"/>
          </p:cNvSpPr>
          <p:nvPr>
            <p:ph type="sldNum" idx="3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9" name="Google Shape;99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2" name="Google Shape;102;p34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4" name="Google Shape;104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7" name="Google Shape;107;p3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29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8" name="Google Shape;108;p35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0" name="Google Shape;110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3" name="Google Shape;113;p36"/>
          <p:cNvSpPr/>
          <p:nvPr/>
        </p:nvSpPr>
        <p:spPr>
          <a:xfrm>
            <a:off x="0" y="4508900"/>
            <a:ext cx="9144000" cy="634500"/>
          </a:xfrm>
          <a:prstGeom prst="rect">
            <a:avLst/>
          </a:prstGeom>
          <a:solidFill>
            <a:srgbClr val="013D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5" name="Google Shape;115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4592" y="3957104"/>
            <a:ext cx="2514100" cy="17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"/>
              <a:buNone/>
              <a:defRPr sz="4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9" name="Google Shape;119;p3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0" name="Google Shape;120;p3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1" name="Google Shape;121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4" name="Google Shape;124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3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36" name="Google Shape;136;p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grpSp>
        <p:nvGrpSpPr>
          <p:cNvPr id="137" name="Google Shape;137;p1"/>
          <p:cNvGrpSpPr/>
          <p:nvPr/>
        </p:nvGrpSpPr>
        <p:grpSpPr>
          <a:xfrm>
            <a:off x="0" y="1125575"/>
            <a:ext cx="9143999" cy="4018102"/>
            <a:chOff x="0" y="0"/>
            <a:chExt cx="9143999" cy="5143500"/>
          </a:xfrm>
        </p:grpSpPr>
        <p:pic>
          <p:nvPicPr>
            <p:cNvPr id="138" name="Google Shape;138;p1"/>
            <p:cNvPicPr preferRelativeResize="0"/>
            <p:nvPr/>
          </p:nvPicPr>
          <p:blipFill rotWithShape="1">
            <a:blip r:embed="rId3">
              <a:alphaModFix/>
            </a:blip>
            <a:srcRect t="31459"/>
            <a:stretch/>
          </p:blipFill>
          <p:spPr>
            <a:xfrm>
              <a:off x="0" y="0"/>
              <a:ext cx="9143999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1"/>
            <p:cNvSpPr/>
            <p:nvPr/>
          </p:nvSpPr>
          <p:spPr>
            <a:xfrm>
              <a:off x="1959475" y="1399400"/>
              <a:ext cx="5096400" cy="1311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1"/>
          <p:cNvSpPr txBox="1">
            <a:spLocks noGrp="1"/>
          </p:cNvSpPr>
          <p:nvPr>
            <p:ph type="ctrTitle" idx="2"/>
          </p:nvPr>
        </p:nvSpPr>
        <p:spPr>
          <a:xfrm>
            <a:off x="311700" y="615575"/>
            <a:ext cx="8358300" cy="11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111"/>
              <a:buNone/>
            </a:pPr>
            <a:r>
              <a:t>Spar Stores 171 New Cross Road London  SE14 5DG</a:t>
            </a:r>
            <a:endParaRPr/>
          </a:p>
        </p:txBody>
      </p:sp>
      <p:pic>
        <p:nvPicPr>
          <p:cNvPr id="141" name="Google Shape;141;p1"/>
          <p:cNvPicPr preferRelativeResize="0"/>
          <p:nvPr/>
        </p:nvPicPr>
        <p:blipFill rotWithShape="1">
          <a:blip r:embed="rId3">
            <a:alphaModFix/>
          </a:blip>
          <a:srcRect l="22059" t="54542" r="23106" b="32326"/>
          <a:stretch/>
        </p:blipFill>
        <p:spPr>
          <a:xfrm>
            <a:off x="3221550" y="2219775"/>
            <a:ext cx="3046498" cy="103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"/>
          <p:cNvSpPr txBox="1"/>
          <p:nvPr/>
        </p:nvSpPr>
        <p:spPr>
          <a:xfrm>
            <a:off x="549873" y="1770875"/>
            <a:ext cx="37677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>Client: Suguna Kumar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8F6FDC99-15A4-4912-A0E1-6B7993EFC762}" type="slidenum">
              <a:rPr lang="en-IN" smtClean="0"/>
              <a:t>2</a:t>
            </a:fld>
            <a:endParaRPr dirty="0"/>
          </a:p>
        </p:txBody>
      </p:sp>
      <p:sp>
        <p:nvSpPr>
          <p:cNvPr id="148" name="Google Shape;148;p2"/>
          <p:cNvSpPr txBox="1">
            <a:spLocks noGrp="1"/>
          </p:cNvSpPr>
          <p:nvPr>
            <p:ph type="ctrTitle" idx="4294967295"/>
          </p:nvPr>
        </p:nvSpPr>
        <p:spPr>
          <a:xfrm>
            <a:off x="512050" y="415250"/>
            <a:ext cx="8358300" cy="11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22"/>
              <a:buFont typeface="Arial"/>
              <a:buNone/>
            </a:pPr>
            <a:r>
              <a:t>Spar Stores 171 New Cross Road London  SE14 5DG</a:t>
            </a:r>
            <a:endParaRPr sz="2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Picture 14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93" y="1278000"/>
            <a:ext cx="3117900" cy="2807100"/>
          </a:xfrm>
          <a:prstGeom prst="rect">
            <a:avLst/>
          </a:prstGeom>
        </p:spPr>
      </p:pic>
      <p:pic>
        <p:nvPicPr>
          <p:cNvPr id="151" name="Picture 150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558" y="1278000"/>
            <a:ext cx="3117900" cy="2807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155" name="Google Shape;155;p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Property Images</a:t>
            </a:r>
            <a:endParaRPr/>
          </a:p>
        </p:txBody>
      </p:sp>
      <p:pic>
        <p:nvPicPr>
          <p:cNvPr id="158" name="Picture 157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50" y="1278000"/>
            <a:ext cx="3117900" cy="2807100"/>
          </a:xfrm>
          <a:prstGeom prst="rect">
            <a:avLst/>
          </a:prstGeom>
        </p:spPr>
      </p:pic>
      <p:pic>
        <p:nvPicPr>
          <p:cNvPr id="159" name="Picture 158" descr="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00" y="1278000"/>
            <a:ext cx="3117900" cy="2807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EA3686B9-393E-7D36-BD27-3C232020F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>
            <a:extLst>
              <a:ext uri="{FF2B5EF4-FFF2-40B4-BE49-F238E27FC236}">
                <a16:creationId xmlns:a16="http://schemas.microsoft.com/office/drawing/2014/main" id="{F7B954A9-D394-9D89-5536-629B13B2CE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155" name="Google Shape;155;p3">
            <a:extLst>
              <a:ext uri="{FF2B5EF4-FFF2-40B4-BE49-F238E27FC236}">
                <a16:creationId xmlns:a16="http://schemas.microsoft.com/office/drawing/2014/main" id="{CACDEF43-C6C8-BBD7-BBE8-1F9EF08F25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Property Images</a:t>
            </a:r>
            <a:endParaRPr dirty="0"/>
          </a:p>
        </p:txBody>
      </p:sp>
      <p:pic>
        <p:nvPicPr>
          <p:cNvPr id="158" name="Picture 157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50" y="1278000"/>
            <a:ext cx="2745360" cy="1404240"/>
          </a:xfrm>
          <a:prstGeom prst="rect">
            <a:avLst/>
          </a:prstGeom>
        </p:spPr>
      </p:pic>
      <p:pic>
        <p:nvPicPr>
          <p:cNvPr id="159" name="Picture 158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00" y="1278000"/>
            <a:ext cx="2745360" cy="1404240"/>
          </a:xfrm>
          <a:prstGeom prst="rect">
            <a:avLst/>
          </a:prstGeom>
        </p:spPr>
      </p:pic>
      <p:pic>
        <p:nvPicPr>
          <p:cNvPr id="160" name="Picture 159" descr="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1150" y="2911728"/>
            <a:ext cx="2745360" cy="1404240"/>
          </a:xfrm>
          <a:prstGeom prst="rect">
            <a:avLst/>
          </a:prstGeom>
        </p:spPr>
      </p:pic>
      <p:pic>
        <p:nvPicPr>
          <p:cNvPr id="161" name="Picture 160" descr="image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00" y="2911728"/>
            <a:ext cx="2745360" cy="140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270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>
            <a:spLocks noGrp="1"/>
          </p:cNvSpPr>
          <p:nvPr>
            <p:ph type="title"/>
          </p:nvPr>
        </p:nvSpPr>
        <p:spPr>
          <a:xfrm>
            <a:off x="412800" y="426500"/>
            <a:ext cx="532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/>
              <a:t>Property Information</a:t>
            </a:r>
            <a:endParaRPr/>
          </a:p>
        </p:txBody>
      </p:sp>
      <p:sp>
        <p:nvSpPr>
          <p:cNvPr id="163" name="Google Shape;163;p4"/>
          <p:cNvSpPr txBox="1">
            <a:spLocks noGrp="1"/>
          </p:cNvSpPr>
          <p:nvPr>
            <p:ph type="body" idx="1"/>
          </p:nvPr>
        </p:nvSpPr>
        <p:spPr>
          <a:xfrm>
            <a:off x="311700" y="1465800"/>
            <a:ext cx="4347600" cy="11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t>Property type- Class E &amp; Class C3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t>Council : Lewisham Council.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t>Built Area - 97 Sqm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t>As of now, we don't have any major constraints on site</a:t>
            </a:r>
            <a:endParaRPr/>
          </a:p>
        </p:txBody>
      </p:sp>
      <p:sp>
        <p:nvSpPr>
          <p:cNvPr id="164" name="Google Shape;16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pic>
        <p:nvPicPr>
          <p:cNvPr id="166" name="Picture 165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175" y="1278000"/>
            <a:ext cx="3117900" cy="2807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ac5b1a590_3_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Scope of Works</a:t>
            </a:r>
            <a:endParaRPr/>
          </a:p>
        </p:txBody>
      </p:sp>
      <p:sp>
        <p:nvSpPr>
          <p:cNvPr id="172" name="Google Shape;172;g35ac5b1a590_3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pic>
        <p:nvPicPr>
          <p:cNvPr id="173" name="Picture 17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221500"/>
            <a:ext cx="8328000" cy="2755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sp>
        <p:nvSpPr>
          <p:cNvPr id="178" name="Google Shape;178;p7"/>
          <p:cNvSpPr txBox="1">
            <a:spLocks noGrp="1"/>
          </p:cNvSpPr>
          <p:nvPr>
            <p:ph type="title"/>
          </p:nvPr>
        </p:nvSpPr>
        <p:spPr>
          <a:xfrm>
            <a:off x="318875" y="114925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Conceptual design</a:t>
            </a:r>
            <a:endParaRPr/>
          </a:p>
        </p:txBody>
      </p:sp>
      <p:sp>
        <p:nvSpPr>
          <p:cNvPr id="179" name="Google Shape;179;p7"/>
          <p:cNvSpPr txBox="1"/>
          <p:nvPr/>
        </p:nvSpPr>
        <p:spPr>
          <a:xfrm>
            <a:off x="318875" y="114925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Conceptual design  </a:t>
            </a:r>
            <a:endParaRPr sz="28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0" name="Picture 179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64" y="960783"/>
            <a:ext cx="8408505" cy="33239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sp>
        <p:nvSpPr>
          <p:cNvPr id="185" name="Google Shape;185;p6"/>
          <p:cNvSpPr txBox="1">
            <a:spLocks noGrp="1"/>
          </p:cNvSpPr>
          <p:nvPr>
            <p:ph type="title"/>
          </p:nvPr>
        </p:nvSpPr>
        <p:spPr>
          <a:xfrm>
            <a:off x="318875" y="114925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Conceptual design - Plan</a:t>
            </a:r>
            <a:endParaRPr/>
          </a:p>
        </p:txBody>
      </p:sp>
      <p:pic>
        <p:nvPicPr>
          <p:cNvPr id="186" name="Picture 185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11" y="981293"/>
            <a:ext cx="8445346" cy="33239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12ec61f43_1_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  <p:sp>
        <p:nvSpPr>
          <p:cNvPr id="191" name="Google Shape;191;g3612ec61f43_1_8"/>
          <p:cNvSpPr txBox="1"/>
          <p:nvPr/>
        </p:nvSpPr>
        <p:spPr>
          <a:xfrm>
            <a:off x="471000" y="261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Similar Planning Applications</a:t>
            </a:r>
            <a:endParaRPr sz="2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g3612ec61f43_1_8"/>
          <p:cNvSpPr txBox="1"/>
          <p:nvPr/>
        </p:nvSpPr>
        <p:spPr>
          <a:xfrm>
            <a:off x="3646375" y="4141775"/>
            <a:ext cx="5239208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>A short Link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612ec61f43_1_8"/>
          <p:cNvSpPr txBox="1"/>
          <p:nvPr/>
        </p:nvSpPr>
        <p:spPr>
          <a:xfrm>
            <a:off x="529825" y="39571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>Timeline : 3 months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612ec61f43_1_8"/>
          <p:cNvSpPr txBox="1"/>
          <p:nvPr/>
        </p:nvSpPr>
        <p:spPr>
          <a:xfrm>
            <a:off x="529825" y="873575"/>
            <a:ext cx="285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>1 Egmont Street, London, SE14 5QW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Picture 196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25" y="1537525"/>
            <a:ext cx="2853600" cy="2431405"/>
          </a:xfrm>
          <a:prstGeom prst="rect">
            <a:avLst/>
          </a:prstGeom>
        </p:spPr>
      </p:pic>
      <p:pic>
        <p:nvPicPr>
          <p:cNvPr id="198" name="Picture 197" descr="imag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1175" y="1537525"/>
            <a:ext cx="2853600" cy="24314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ac5b1a590_3_2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  <p:sp>
        <p:nvSpPr>
          <p:cNvPr id="202" name="Google Shape;202;g35ac5b1a590_3_27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5ac5b1a590_3_277"/>
          <p:cNvSpPr txBox="1"/>
          <p:nvPr/>
        </p:nvSpPr>
        <p:spPr>
          <a:xfrm>
            <a:off x="184975" y="168100"/>
            <a:ext cx="5631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Existing and Proposed Floor Plan</a:t>
            </a:r>
            <a:endParaRPr sz="2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4" name="Picture 203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74" y="923800"/>
            <a:ext cx="8627721" cy="35394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16196e02f_3_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sp>
        <p:nvSpPr>
          <p:cNvPr id="209" name="Google Shape;209;g3616196e02f_3_5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616196e02f_3_55"/>
          <p:cNvSpPr txBox="1"/>
          <p:nvPr/>
        </p:nvSpPr>
        <p:spPr>
          <a:xfrm>
            <a:off x="184975" y="168100"/>
            <a:ext cx="5631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Existing and Proposed Elevations</a:t>
            </a:r>
            <a:endParaRPr sz="2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1" name="Picture 210" descr="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75" y="923800"/>
            <a:ext cx="8707234" cy="35394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7d6814198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  <p:sp>
        <p:nvSpPr>
          <p:cNvPr id="216" name="Google Shape;216;g367d6814198_0_0"/>
          <p:cNvSpPr txBox="1"/>
          <p:nvPr/>
        </p:nvSpPr>
        <p:spPr>
          <a:xfrm>
            <a:off x="471000" y="261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Similar</a:t>
            </a:r>
            <a:r>
              <a:rPr lang="en-GB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GB"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Planning Applications</a:t>
            </a:r>
            <a:endParaRPr sz="2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g367d6814198_0_0"/>
          <p:cNvSpPr txBox="1"/>
          <p:nvPr/>
        </p:nvSpPr>
        <p:spPr>
          <a:xfrm>
            <a:off x="3646374" y="4141775"/>
            <a:ext cx="5345225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>A short link 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67d6814198_0_0"/>
          <p:cNvSpPr txBox="1"/>
          <p:nvPr/>
        </p:nvSpPr>
        <p:spPr>
          <a:xfrm>
            <a:off x="529825" y="396894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>Timeline : 6 months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67d6814198_0_0"/>
          <p:cNvSpPr txBox="1"/>
          <p:nvPr/>
        </p:nvSpPr>
        <p:spPr>
          <a:xfrm>
            <a:off x="529825" y="873575"/>
            <a:ext cx="285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>SMIKLE COURT, HATCHAM PARK MEWS, LONDON, SE14 5DG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Picture 221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25" y="1537525"/>
            <a:ext cx="2853600" cy="2616070"/>
          </a:xfrm>
          <a:prstGeom prst="rect">
            <a:avLst/>
          </a:prstGeom>
        </p:spPr>
      </p:pic>
      <p:pic>
        <p:nvPicPr>
          <p:cNvPr id="223" name="Picture 222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1175" y="1537525"/>
            <a:ext cx="2853600" cy="26160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7d6814198_0_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sp>
        <p:nvSpPr>
          <p:cNvPr id="227" name="Google Shape;227;g367d6814198_0_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67d6814198_0_7"/>
          <p:cNvSpPr txBox="1"/>
          <p:nvPr/>
        </p:nvSpPr>
        <p:spPr>
          <a:xfrm>
            <a:off x="184975" y="168100"/>
            <a:ext cx="5631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Existing and </a:t>
            </a:r>
            <a:r>
              <a:rPr lang="en-GB" sz="2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</a:t>
            </a: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plans</a:t>
            </a:r>
            <a:endParaRPr sz="2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9" name="Picture 228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75" y="923800"/>
            <a:ext cx="8581338" cy="33239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65c79dde51_0_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  <p:sp>
        <p:nvSpPr>
          <p:cNvPr id="234" name="Google Shape;234;g365c79dde51_0_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65c79dde51_0_3"/>
          <p:cNvSpPr txBox="1"/>
          <p:nvPr/>
        </p:nvSpPr>
        <p:spPr>
          <a:xfrm>
            <a:off x="184975" y="168100"/>
            <a:ext cx="5631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Existing and </a:t>
            </a:r>
            <a:r>
              <a:rPr lang="en-GB" sz="2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</a:t>
            </a: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elevations</a:t>
            </a:r>
            <a:endParaRPr sz="2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6" name="Picture 235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75" y="923800"/>
            <a:ext cx="8727112" cy="35394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16196e02f_3_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  <p:sp>
        <p:nvSpPr>
          <p:cNvPr id="241" name="Google Shape;241;g3616196e02f_3_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616196e02f_3_26"/>
          <p:cNvSpPr txBox="1"/>
          <p:nvPr/>
        </p:nvSpPr>
        <p:spPr>
          <a:xfrm>
            <a:off x="184975" y="168100"/>
            <a:ext cx="5631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Reasons for rejection</a:t>
            </a:r>
            <a:endParaRPr sz="2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3" name="Picture 242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75" y="769911"/>
            <a:ext cx="8548208" cy="35394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5c79dde51_0_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  <p:sp>
        <p:nvSpPr>
          <p:cNvPr id="248" name="Google Shape;248;g365c79dde51_0_1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65c79dde51_0_10"/>
          <p:cNvSpPr txBox="1"/>
          <p:nvPr/>
        </p:nvSpPr>
        <p:spPr>
          <a:xfrm>
            <a:off x="184975" y="168100"/>
            <a:ext cx="5631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200">
                <a:latin typeface="Montserrat"/>
                <a:ea typeface="Montserrat"/>
                <a:cs typeface="Montserrat"/>
                <a:sym typeface="Montserrat"/>
              </a:rPr>
              <a:t>How to bypass</a:t>
            </a:r>
            <a:endParaRPr sz="2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50" name="Google Shape;250;g365c79dde51_0_10"/>
          <p:cNvGraphicFramePr/>
          <p:nvPr/>
        </p:nvGraphicFramePr>
        <p:xfrm>
          <a:off x="423025" y="846025"/>
          <a:ext cx="8049375" cy="3199250"/>
        </p:xfrm>
        <a:graphic>
          <a:graphicData uri="http://schemas.openxmlformats.org/drawingml/2006/table">
            <a:tbl>
              <a:tblPr>
                <a:noFill/>
                <a:tableStyleId>{C7DCC64C-79F8-4F6E-A11D-3597F310284E}</a:tableStyleId>
              </a:tblPr>
              <a:tblGrid>
                <a:gridCol w="160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5ac5b1a590_5_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Documents to be Submitted</a:t>
            </a:r>
            <a:endParaRPr/>
          </a:p>
        </p:txBody>
      </p:sp>
      <p:sp>
        <p:nvSpPr>
          <p:cNvPr id="256" name="Google Shape;256;g35ac5b1a590_5_45"/>
          <p:cNvSpPr txBox="1">
            <a:spLocks noGrp="1"/>
          </p:cNvSpPr>
          <p:nvPr>
            <p:ph type="body" idx="1"/>
          </p:nvPr>
        </p:nvSpPr>
        <p:spPr>
          <a:xfrm>
            <a:off x="311700" y="10425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>Full application- 3 Months (from submission) Till Decision Notice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100" dirty="0">
                <a:solidFill>
                  <a:schemeClr val="dk1"/>
                </a:solidFill>
              </a:rPr>
              <a:t>Required Documents: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t>Fire Strategy (a third party document), Heritage statement (a third party document), CIL (a third party document), Structural Survey (a third party document), Sustainable Drainage assessment (a third party document)</a:t>
            </a: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257" name="Google Shape;257;g35ac5b1a590_5_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6de6903f5_0_0"/>
          <p:cNvSpPr txBox="1">
            <a:spLocks noGrp="1"/>
          </p:cNvSpPr>
          <p:nvPr>
            <p:ph type="title"/>
          </p:nvPr>
        </p:nvSpPr>
        <p:spPr>
          <a:xfrm>
            <a:off x="267350" y="555600"/>
            <a:ext cx="8071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Process of Works</a:t>
            </a:r>
            <a:endParaRPr/>
          </a:p>
        </p:txBody>
      </p:sp>
      <p:sp>
        <p:nvSpPr>
          <p:cNvPr id="263" name="Google Shape;263;g366de6903f5_0_0"/>
          <p:cNvSpPr txBox="1">
            <a:spLocks noGrp="1"/>
          </p:cNvSpPr>
          <p:nvPr>
            <p:ph type="body" idx="1"/>
          </p:nvPr>
        </p:nvSpPr>
        <p:spPr>
          <a:xfrm>
            <a:off x="311700" y="1221500"/>
            <a:ext cx="8328000" cy="26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Site Assessment and Feasibility:</a:t>
            </a:r>
            <a:r>
              <a:rPr lang="en-GB" sz="1100" dirty="0">
                <a:solidFill>
                  <a:schemeClr val="dk1"/>
                </a:solidFill>
              </a:rPr>
              <a:t> Evaluate the property to design development focusing on space optimization, accessibility, and the intended function, while ensuring full compliance with planning regulations.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Measured Survey &amp; Architectural Drawings:</a:t>
            </a:r>
            <a:r>
              <a:rPr lang="en-GB" sz="1100" dirty="0">
                <a:solidFill>
                  <a:schemeClr val="dk1"/>
                </a:solidFill>
              </a:rPr>
              <a:t> Perform a measured survey and produce architectural drawings, including floor plans, elevations, sections, and site plans, ensuring accuracy for both planning and construction purposes.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Pre-Planning application : </a:t>
            </a:r>
            <a:r>
              <a:rPr lang="en-GB" sz="1100" dirty="0">
                <a:solidFill>
                  <a:schemeClr val="dk1"/>
                </a:solidFill>
              </a:rPr>
              <a:t>Prepare and submit a schematic planning application for the proposed development, ensuring compliance with local planning standards and requirements.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t>Full planning Planning Application: Prepare and submit a detailed planning application for the proposed development, ensuring compliance with local planning standards and requirements.</a:t>
            </a:r>
            <a:endParaRPr sz="1100" dirty="0"/>
          </a:p>
        </p:txBody>
      </p:sp>
      <p:sp>
        <p:nvSpPr>
          <p:cNvPr id="264" name="Google Shape;264;g366de6903f5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  <p:sp>
        <p:nvSpPr>
          <p:cNvPr id="270" name="Google Shape;270;p12"/>
          <p:cNvSpPr txBox="1">
            <a:spLocks noGrp="1"/>
          </p:cNvSpPr>
          <p:nvPr>
            <p:ph type="title"/>
          </p:nvPr>
        </p:nvSpPr>
        <p:spPr>
          <a:xfrm>
            <a:off x="213825" y="15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Track Records</a:t>
            </a:r>
            <a:endParaRPr/>
          </a:p>
        </p:txBody>
      </p:sp>
      <p:pic>
        <p:nvPicPr>
          <p:cNvPr id="271" name="Google Shape;27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1000" y="1007000"/>
            <a:ext cx="4767150" cy="282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2"/>
          <p:cNvPicPr preferRelativeResize="0"/>
          <p:nvPr/>
        </p:nvPicPr>
        <p:blipFill rotWithShape="1">
          <a:blip r:embed="rId4">
            <a:alphaModFix/>
          </a:blip>
          <a:srcRect l="11707"/>
          <a:stretch/>
        </p:blipFill>
        <p:spPr>
          <a:xfrm>
            <a:off x="404525" y="1007000"/>
            <a:ext cx="3736476" cy="282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  <p:sp>
        <p:nvSpPr>
          <p:cNvPr id="278" name="Google Shape;278;p13"/>
          <p:cNvSpPr txBox="1">
            <a:spLocks noGrp="1"/>
          </p:cNvSpPr>
          <p:nvPr>
            <p:ph type="title"/>
          </p:nvPr>
        </p:nvSpPr>
        <p:spPr>
          <a:xfrm>
            <a:off x="213825" y="15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Track Records</a:t>
            </a:r>
            <a:endParaRPr/>
          </a:p>
        </p:txBody>
      </p:sp>
      <p:pic>
        <p:nvPicPr>
          <p:cNvPr id="279" name="Google Shape;279;p13"/>
          <p:cNvPicPr preferRelativeResize="0"/>
          <p:nvPr/>
        </p:nvPicPr>
        <p:blipFill rotWithShape="1">
          <a:blip r:embed="rId3">
            <a:alphaModFix/>
          </a:blip>
          <a:srcRect b="40587"/>
          <a:stretch/>
        </p:blipFill>
        <p:spPr>
          <a:xfrm>
            <a:off x="337250" y="1093975"/>
            <a:ext cx="3786250" cy="277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23500" y="1093975"/>
            <a:ext cx="4697651" cy="277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  <p:sp>
        <p:nvSpPr>
          <p:cNvPr id="286" name="Google Shape;286;p14"/>
          <p:cNvSpPr txBox="1">
            <a:spLocks noGrp="1"/>
          </p:cNvSpPr>
          <p:nvPr>
            <p:ph type="title"/>
          </p:nvPr>
        </p:nvSpPr>
        <p:spPr>
          <a:xfrm>
            <a:off x="213825" y="15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Track Records</a:t>
            </a:r>
            <a:endParaRPr/>
          </a:p>
        </p:txBody>
      </p:sp>
      <p:pic>
        <p:nvPicPr>
          <p:cNvPr id="287" name="Google Shape;287;p14"/>
          <p:cNvPicPr preferRelativeResize="0"/>
          <p:nvPr/>
        </p:nvPicPr>
        <p:blipFill rotWithShape="1">
          <a:blip r:embed="rId3">
            <a:alphaModFix/>
          </a:blip>
          <a:srcRect l="7194" r="6537" b="6538"/>
          <a:stretch/>
        </p:blipFill>
        <p:spPr>
          <a:xfrm>
            <a:off x="408775" y="952350"/>
            <a:ext cx="4067526" cy="291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36475" y="952350"/>
            <a:ext cx="4628176" cy="291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  <p:sp>
        <p:nvSpPr>
          <p:cNvPr id="294" name="Google Shape;294;p15"/>
          <p:cNvSpPr txBox="1">
            <a:spLocks noGrp="1"/>
          </p:cNvSpPr>
          <p:nvPr>
            <p:ph type="title"/>
          </p:nvPr>
        </p:nvSpPr>
        <p:spPr>
          <a:xfrm>
            <a:off x="213825" y="15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Track Records</a:t>
            </a:r>
            <a:endParaRPr/>
          </a:p>
        </p:txBody>
      </p:sp>
      <p:pic>
        <p:nvPicPr>
          <p:cNvPr id="295" name="Google Shape;295;p15"/>
          <p:cNvPicPr preferRelativeResize="0"/>
          <p:nvPr/>
        </p:nvPicPr>
        <p:blipFill rotWithShape="1">
          <a:blip r:embed="rId3">
            <a:alphaModFix/>
          </a:blip>
          <a:srcRect l="10088"/>
          <a:stretch/>
        </p:blipFill>
        <p:spPr>
          <a:xfrm>
            <a:off x="482125" y="993900"/>
            <a:ext cx="3902880" cy="2881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5000" y="993900"/>
            <a:ext cx="4457899" cy="288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  <p:sp>
        <p:nvSpPr>
          <p:cNvPr id="302" name="Google Shape;302;p16"/>
          <p:cNvSpPr txBox="1">
            <a:spLocks noGrp="1"/>
          </p:cNvSpPr>
          <p:nvPr>
            <p:ph type="title"/>
          </p:nvPr>
        </p:nvSpPr>
        <p:spPr>
          <a:xfrm>
            <a:off x="213825" y="15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Track Records</a:t>
            </a:r>
            <a:endParaRPr/>
          </a:p>
        </p:txBody>
      </p:sp>
      <p:pic>
        <p:nvPicPr>
          <p:cNvPr id="303" name="Google Shape;303;p16"/>
          <p:cNvPicPr preferRelativeResize="0"/>
          <p:nvPr/>
        </p:nvPicPr>
        <p:blipFill rotWithShape="1">
          <a:blip r:embed="rId3">
            <a:alphaModFix/>
          </a:blip>
          <a:srcRect l="22083" t="3378" r="19354" b="13366"/>
          <a:stretch/>
        </p:blipFill>
        <p:spPr>
          <a:xfrm>
            <a:off x="567625" y="993900"/>
            <a:ext cx="3305775" cy="298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3401" y="993900"/>
            <a:ext cx="4861024" cy="2981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594</Words>
  <Application>Microsoft Office PowerPoint</Application>
  <PresentationFormat>On-screen Show (16:9)</PresentationFormat>
  <Paragraphs>236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Montserrat</vt:lpstr>
      <vt:lpstr>Simple Light</vt:lpstr>
      <vt:lpstr>Simple Light</vt:lpstr>
      <vt:lpstr>PowerPoint Presentation</vt:lpstr>
      <vt:lpstr>{{property address}}</vt:lpstr>
      <vt:lpstr>Property Images</vt:lpstr>
      <vt:lpstr>Property Images</vt:lpstr>
      <vt:lpstr>Property Information</vt:lpstr>
      <vt:lpstr>Scope of Works</vt:lpstr>
      <vt:lpstr>Conceptual design</vt:lpstr>
      <vt:lpstr>Conceptual design - 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Documents to be Submitted</vt:lpstr>
      <vt:lpstr>Process of Works</vt:lpstr>
      <vt:lpstr>Track Records</vt:lpstr>
      <vt:lpstr>Track Records</vt:lpstr>
      <vt:lpstr>Track Records</vt:lpstr>
      <vt:lpstr>Track Records</vt:lpstr>
      <vt:lpstr>Track Records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anil kumar</dc:creator>
  <cp:lastModifiedBy>Dinesh Bala</cp:lastModifiedBy>
  <cp:revision>25</cp:revision>
  <dcterms:modified xsi:type="dcterms:W3CDTF">2025-09-20T11:00:25Z</dcterms:modified>
</cp:coreProperties>
</file>